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A9BBD8-7788-445A-B788-8873097DB169}" v="5" dt="2026-10-25T11:29:28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880" y="5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94D77D-9C8C-459A-A85D-F788CDDC6568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06AF8-DA3A-4001-9E84-B370D2C5C3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56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draft. Potential benefits of a single patient record and synthetic data are presented as opportunities. Local hosting and distinct clinician/researcher experiences reflect the proposed Cell Bench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D077A-9E73-AAD8-CBD2-DBD02F4BB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A4772-47A9-253F-2557-894AF58F1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D76EA-E031-DE13-5ABA-DC4454935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8F6D-0E90-4C1B-BD9B-D0F53C256306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49D82-252B-661B-A389-56197FB06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22F86-294F-9503-C908-C41BE565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CA12-FABE-4FD4-8FCE-C7E0CE9AB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788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34D4-D894-34DB-21BF-9BBD2F283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016EA-2AF5-494F-E98D-1859E077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93D0D-F8E0-F5F8-803F-33280DB9B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8F6D-0E90-4C1B-BD9B-D0F53C256306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4C5F1-402E-E56E-ED83-339E67E6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57D27-5A8C-9101-174D-60941547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CA12-FABE-4FD4-8FCE-C7E0CE9AB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40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681C-3F35-7CD1-DB92-ED32C9BB2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89668-C923-BE67-31C0-91FD5EA9B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48120-574C-706D-A5ED-7CBCEFF8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8F6D-0E90-4C1B-BD9B-D0F53C256306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F6759-0C2F-A45C-A25E-239C6019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362CD-D619-799D-D0AD-8ECC2971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CA12-FABE-4FD4-8FCE-C7E0CE9AB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11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521B5-CD18-6F11-2811-0212C6074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4FD24-BD00-5416-D890-57B2E49CF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9C30C-C628-F975-0834-617089275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175F4-13CF-949F-2746-B949AD30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8F6D-0E90-4C1B-BD9B-D0F53C256306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39B85-872E-2D73-D403-F4F2194C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724EC-C972-5C35-31F7-4FF48C6C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CA12-FABE-4FD4-8FCE-C7E0CE9AB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325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77DD-19A1-9EC6-4F16-5DBE67539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1EE57-4D57-6064-42D0-31D688A74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B59D1-7164-119A-F3CC-C05BA3E1A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8C9703-46C5-131A-BFD9-698936349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827E9C-229F-0C41-2B6C-EDEBF256AD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32DE7D-584E-DC13-087A-DD6D22E9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8F6D-0E90-4C1B-BD9B-D0F53C256306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823B3-6D1E-E571-5680-75990774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689B6-5978-7F67-BEB6-E1ACCBE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CA12-FABE-4FD4-8FCE-C7E0CE9AB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16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A962-A85B-1884-0F8E-9149E198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AF5F5-B611-D320-4867-3E1C8791D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8F6D-0E90-4C1B-BD9B-D0F53C256306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5AEF0-C697-B9C1-9151-1575C75E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A2017-FC7D-21F8-5374-9712A46E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CA12-FABE-4FD4-8FCE-C7E0CE9AB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281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86AA2-6040-0E4C-F6BD-24BF25D8D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8F6D-0E90-4C1B-BD9B-D0F53C256306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38DA58-7B02-999D-FE86-29E31BC5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D202E-61FC-5C8A-06CB-DE07465D3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CA12-FABE-4FD4-8FCE-C7E0CE9AB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70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C27D3-15AA-358F-DD5B-960B8729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45799-6C45-585D-F659-7194ECE94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87957-4837-8AD1-44AB-A942F7C7D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7192B-B9F8-AF22-FDDD-30064883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8F6D-0E90-4C1B-BD9B-D0F53C256306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71DD7-E5BE-5063-8DD9-7AE322CC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1E006-498F-6FAC-1F0F-0715E470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CA12-FABE-4FD4-8FCE-C7E0CE9AB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66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70B5D-3C9C-4D70-ED4E-E4595286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5A5EC-FE55-81C1-08AD-2ED6E7428BC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928EB-EAA8-4233-92AC-4B60545E6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401E1-12DB-80E5-D87B-F85C0A21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8F6D-0E90-4C1B-BD9B-D0F53C256306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8ACE0-5430-B145-D0C3-7283A73D1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12360-8190-7BCC-766F-49238C6E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CA12-FABE-4FD4-8FCE-C7E0CE9AB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44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3FE1-4E5E-DE05-3F00-2E8C093E7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B9243-ACC0-1898-563C-86810A1FC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9A5A9-4B32-FEDB-6795-5EEACB14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8F6D-0E90-4C1B-BD9B-D0F53C256306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46D7A-B147-5553-5F9E-1777C9374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AB35-24FF-1B74-943B-79193A3E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CA12-FABE-4FD4-8FCE-C7E0CE9AB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94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58CE3-9C51-B711-4E9C-5B5D9BB169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8DA12-6101-5AB4-7491-D5999ADB2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EC145-6106-2CBD-8B87-4B36788A1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8F6D-0E90-4C1B-BD9B-D0F53C256306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BFC28-6BB8-4775-37C2-7B64D3355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679EE-E595-F100-B457-5C39BE64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CA12-FABE-4FD4-8FCE-C7E0CE9AB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78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A1AC38-613C-A084-E5CE-0752A690C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CDDAD-8E9F-09AB-52FD-341EB6D3A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3B1CD-521E-2448-1E9C-480A6237D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18F6D-0E90-4C1B-BD9B-D0F53C256306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77810-399E-4AE0-06E8-7E9E1A3CE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CCB38-0416-5C2F-A62D-D3B6A16AF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ACA12-FABE-4FD4-8FCE-C7E0CE9AB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78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en.wikipedia.org/wiki/Myelodysplastic_syndrome" TargetMode="Externa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/>
            <a:r>
              <a:rPr lang="en-GB" sz="3600" b="1" dirty="0">
                <a:solidFill>
                  <a:srgbClr val="003087"/>
                </a:solidFill>
              </a:rPr>
              <a:t>Hidden in every blood count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GB" sz="1600" dirty="0">
                <a:solidFill>
                  <a:srgbClr val="5B6573"/>
                </a:solidFill>
              </a:rPr>
              <a:t>Analysers measure thousands of individual cells per sample – but only summary averages reach the clinician</a:t>
            </a:r>
          </a:p>
        </p:txBody>
      </p:sp>
      <p:sp>
        <p:nvSpPr>
          <p:cNvPr id="103" name="Row label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GB" sz="1200" b="1" spc="100" dirty="0">
                <a:solidFill>
                  <a:srgbClr val="005EB8"/>
                </a:solidFill>
              </a:rPr>
              <a:t>TODAY</a:t>
            </a:r>
          </a:p>
        </p:txBody>
      </p:sp>
      <p:sp>
        <p:nvSpPr>
          <p:cNvPr id="104" name="Card"/>
          <p:cNvSpPr/>
          <p:nvPr/>
        </p:nvSpPr>
        <p:spPr>
          <a:xfrm>
            <a:off x="548640" y="1783080"/>
            <a:ext cx="24597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sp>
        <p:nvSpPr>
          <p:cNvPr id="105" name="Card"/>
          <p:cNvSpPr/>
          <p:nvPr/>
        </p:nvSpPr>
        <p:spPr>
          <a:xfrm>
            <a:off x="3419856" y="1783080"/>
            <a:ext cx="24597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sp>
        <p:nvSpPr>
          <p:cNvPr id="106" name="Card"/>
          <p:cNvSpPr/>
          <p:nvPr/>
        </p:nvSpPr>
        <p:spPr>
          <a:xfrm>
            <a:off x="6291072" y="1783080"/>
            <a:ext cx="24597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pic>
        <p:nvPicPr>
          <p:cNvPr id="107" name="Blood sample tube" descr="Blood sample tub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11096"/>
            <a:ext cx="829056" cy="1243584"/>
          </a:xfrm>
          <a:prstGeom prst="rect">
            <a:avLst/>
          </a:prstGeom>
        </p:spPr>
      </p:pic>
      <p:pic>
        <p:nvPicPr>
          <p:cNvPr id="108" name="Sysmex analyser" descr="Haematology analy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016" y="1911096"/>
            <a:ext cx="1243584" cy="1243584"/>
          </a:xfrm>
          <a:prstGeom prst="rect">
            <a:avLst/>
          </a:prstGeom>
        </p:spPr>
      </p:pic>
      <p:sp>
        <p:nvSpPr>
          <p:cNvPr id="109" name="Caption"/>
          <p:cNvSpPr txBox="1"/>
          <p:nvPr/>
        </p:nvSpPr>
        <p:spPr>
          <a:xfrm>
            <a:off x="658368" y="317296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1400" b="1" dirty="0">
                <a:solidFill>
                  <a:srgbClr val="1F2A37"/>
                </a:solidFill>
              </a:rPr>
              <a:t>Routine blood count</a:t>
            </a:r>
          </a:p>
        </p:txBody>
      </p:sp>
      <p:pic>
        <p:nvPicPr>
          <p:cNvPr id="110" name="Analyser report" descr="Full blood count report"/>
          <p:cNvPicPr>
            <a:picLocks noChangeAspect="1"/>
          </p:cNvPicPr>
          <p:nvPr/>
        </p:nvPicPr>
        <p:blipFill>
          <a:blip r:embed="rId4"/>
          <a:srcRect l="1" t="16809" r="48546" b="32334"/>
          <a:stretch>
            <a:fillRect/>
          </a:stretch>
        </p:blipFill>
        <p:spPr>
          <a:xfrm>
            <a:off x="4096692" y="1911096"/>
            <a:ext cx="1106065" cy="1243584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111" name="Caption"/>
          <p:cNvSpPr txBox="1"/>
          <p:nvPr/>
        </p:nvSpPr>
        <p:spPr>
          <a:xfrm>
            <a:off x="3529584" y="317296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1400" b="1" dirty="0">
                <a:solidFill>
                  <a:srgbClr val="1F2A37"/>
                </a:solidFill>
              </a:rPr>
              <a:t>Summary values only</a:t>
            </a:r>
          </a:p>
        </p:txBody>
      </p:sp>
      <p:pic>
        <p:nvPicPr>
          <p:cNvPr id="112" name="NHS logo" descr="NHS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48" y="2311717"/>
            <a:ext cx="786384" cy="442341"/>
          </a:xfrm>
          <a:prstGeom prst="rect">
            <a:avLst/>
          </a:prstGeom>
        </p:spPr>
      </p:pic>
      <p:pic>
        <p:nvPicPr>
          <p:cNvPr id="113" name="Stethoscope" descr="Stethoscop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9772" y="2106168"/>
            <a:ext cx="1280160" cy="853440"/>
          </a:xfrm>
          <a:prstGeom prst="rect">
            <a:avLst/>
          </a:prstGeom>
        </p:spPr>
      </p:pic>
      <p:sp>
        <p:nvSpPr>
          <p:cNvPr id="114" name="Caption"/>
          <p:cNvSpPr txBox="1"/>
          <p:nvPr/>
        </p:nvSpPr>
        <p:spPr>
          <a:xfrm>
            <a:off x="6400800" y="317296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1400" b="1" dirty="0">
                <a:solidFill>
                  <a:srgbClr val="1F2A37"/>
                </a:solidFill>
              </a:rPr>
              <a:t>Clinician sees averages</a:t>
            </a:r>
          </a:p>
        </p:txBody>
      </p:sp>
      <p:sp>
        <p:nvSpPr>
          <p:cNvPr id="115" name="Arrow"/>
          <p:cNvSpPr/>
          <p:nvPr/>
        </p:nvSpPr>
        <p:spPr>
          <a:xfrm>
            <a:off x="3095244" y="2395728"/>
            <a:ext cx="237744" cy="274320"/>
          </a:xfrm>
          <a:prstGeom prst="rightArrow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 fontScale="55000" lnSpcReduction="20000"/>
          </a:bodyPr>
          <a:lstStyle/>
          <a:p>
            <a:endParaRPr lang="en-GB"/>
          </a:p>
        </p:txBody>
      </p:sp>
      <p:sp>
        <p:nvSpPr>
          <p:cNvPr id="116" name="Arrow"/>
          <p:cNvSpPr/>
          <p:nvPr/>
        </p:nvSpPr>
        <p:spPr>
          <a:xfrm>
            <a:off x="5966460" y="2395728"/>
            <a:ext cx="237744" cy="274320"/>
          </a:xfrm>
          <a:prstGeom prst="rightArrow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 fontScale="55000" lnSpcReduction="20000"/>
          </a:bodyPr>
          <a:lstStyle/>
          <a:p>
            <a:endParaRPr lang="en-GB"/>
          </a:p>
        </p:txBody>
      </p:sp>
      <p:sp>
        <p:nvSpPr>
          <p:cNvPr id="117" name="Problem"/>
          <p:cNvSpPr/>
          <p:nvPr/>
        </p:nvSpPr>
        <p:spPr>
          <a:xfrm>
            <a:off x="9162288" y="1783080"/>
            <a:ext cx="2459736" cy="18288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9AA5B1"/>
            </a:solidFill>
            <a:prstDash val="dash"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algn="l">
              <a:spcAft>
                <a:spcPts val="400"/>
              </a:spcAft>
            </a:pPr>
            <a:r>
              <a:rPr lang="en-GB" sz="1200" b="1" spc="100" dirty="0">
                <a:solidFill>
                  <a:srgbClr val="5B6573"/>
                </a:solidFill>
              </a:rPr>
              <a:t>The gap</a:t>
            </a:r>
          </a:p>
          <a:p>
            <a:pPr algn="l"/>
            <a:r>
              <a:rPr lang="en-GB" sz="1600" b="1" dirty="0">
                <a:solidFill>
                  <a:srgbClr val="1F2A37"/>
                </a:solidFill>
              </a:rPr>
              <a:t>Subtle changes in small cell subsets are averaged away</a:t>
            </a:r>
          </a:p>
        </p:txBody>
      </p:sp>
      <p:sp>
        <p:nvSpPr>
          <p:cNvPr id="118" name="Row label"/>
          <p:cNvSpPr txBox="1"/>
          <p:nvPr/>
        </p:nvSpPr>
        <p:spPr>
          <a:xfrm>
            <a:off x="548640" y="39044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GB" sz="1200" b="1" spc="100" dirty="0">
                <a:solidFill>
                  <a:srgbClr val="005EB8"/>
                </a:solidFill>
              </a:rPr>
              <a:t>OUR APPROACH – SAME SAMPLE, ALL OF THE DATA</a:t>
            </a:r>
          </a:p>
        </p:txBody>
      </p:sp>
      <p:sp>
        <p:nvSpPr>
          <p:cNvPr id="119" name="Card"/>
          <p:cNvSpPr/>
          <p:nvPr/>
        </p:nvSpPr>
        <p:spPr>
          <a:xfrm>
            <a:off x="548640" y="4224528"/>
            <a:ext cx="2459736" cy="2084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sp>
        <p:nvSpPr>
          <p:cNvPr id="120" name="Card"/>
          <p:cNvSpPr/>
          <p:nvPr/>
        </p:nvSpPr>
        <p:spPr>
          <a:xfrm>
            <a:off x="3419856" y="4224528"/>
            <a:ext cx="2459736" cy="2084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sp>
        <p:nvSpPr>
          <p:cNvPr id="121" name="Card"/>
          <p:cNvSpPr/>
          <p:nvPr/>
        </p:nvSpPr>
        <p:spPr>
          <a:xfrm>
            <a:off x="6291072" y="4224528"/>
            <a:ext cx="2459736" cy="2084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89777B-96C1-4424-160B-2BFBED67E634}"/>
              </a:ext>
            </a:extLst>
          </p:cNvPr>
          <p:cNvGrpSpPr/>
          <p:nvPr/>
        </p:nvGrpSpPr>
        <p:grpSpPr>
          <a:xfrm>
            <a:off x="820048" y="4352544"/>
            <a:ext cx="1916920" cy="1463040"/>
            <a:chOff x="4205023" y="1985761"/>
            <a:chExt cx="3781953" cy="288647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A342C80-9D93-E6BA-F15B-B0977363D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05023" y="1985761"/>
              <a:ext cx="3781953" cy="2886478"/>
            </a:xfrm>
            <a:prstGeom prst="rect">
              <a:avLst/>
            </a:prstGeom>
            <a:ln w="9525">
              <a:solidFill>
                <a:srgbClr val="D5DEE8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0C0BA4-DBD9-6E9C-F018-7EF22D801B7C}"/>
                </a:ext>
              </a:extLst>
            </p:cNvPr>
            <p:cNvSpPr/>
            <p:nvPr/>
          </p:nvSpPr>
          <p:spPr>
            <a:xfrm>
              <a:off x="4213489" y="2002694"/>
              <a:ext cx="709877" cy="20033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2" name="Caption"/>
          <p:cNvSpPr txBox="1"/>
          <p:nvPr/>
        </p:nvSpPr>
        <p:spPr>
          <a:xfrm>
            <a:off x="658368" y="587044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1400" b="1" dirty="0">
                <a:solidFill>
                  <a:srgbClr val="1F2A37"/>
                </a:solidFill>
              </a:rPr>
              <a:t>Raw per-cell scatter data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30BC8A3-9E9D-5793-2DF1-8FB475D9C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37815"/>
              </p:ext>
            </p:extLst>
          </p:nvPr>
        </p:nvGraphicFramePr>
        <p:xfrm>
          <a:off x="3557016" y="4398264"/>
          <a:ext cx="218541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083">
                  <a:extLst>
                    <a:ext uri="{9D8B030D-6E8A-4147-A177-3AD203B41FA5}">
                      <a16:colId xmlns:a16="http://schemas.microsoft.com/office/drawing/2014/main" val="3313964100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2332628350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2525022395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2042849289"/>
                    </a:ext>
                  </a:extLst>
                </a:gridCol>
                <a:gridCol w="437083">
                  <a:extLst>
                    <a:ext uri="{9D8B030D-6E8A-4147-A177-3AD203B41FA5}">
                      <a16:colId xmlns:a16="http://schemas.microsoft.com/office/drawing/2014/main" val="224768666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</a:rPr>
                        <a:t>SSC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</a:rPr>
                        <a:t>FSC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</a:rPr>
                        <a:t>SFL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</a:rPr>
                        <a:t>FSCW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5E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0682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1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60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41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57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105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7846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2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167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200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175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189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945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3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100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78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123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101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9721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4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111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126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154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1F2A37"/>
                          </a:solidFill>
                        </a:rPr>
                        <a:t>98</a:t>
                      </a:r>
                    </a:p>
                  </a:txBody>
                  <a:tcPr marL="9144" marR="914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007453"/>
                  </a:ext>
                </a:extLst>
              </a:tr>
            </a:tbl>
          </a:graphicData>
        </a:graphic>
      </p:graphicFrame>
      <p:sp>
        <p:nvSpPr>
          <p:cNvPr id="123" name="Caption"/>
          <p:cNvSpPr txBox="1"/>
          <p:nvPr/>
        </p:nvSpPr>
        <p:spPr>
          <a:xfrm>
            <a:off x="3529584" y="587044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1400" b="1" dirty="0">
                <a:solidFill>
                  <a:srgbClr val="1F2A37"/>
                </a:solidFill>
              </a:rPr>
              <a:t>Every cell, every channel</a:t>
            </a:r>
          </a:p>
        </p:txBody>
      </p:sp>
      <p:sp>
        <p:nvSpPr>
          <p:cNvPr id="124" name="ML circle"/>
          <p:cNvSpPr/>
          <p:nvPr/>
        </p:nvSpPr>
        <p:spPr>
          <a:xfrm>
            <a:off x="6926580" y="4379976"/>
            <a:ext cx="1188720" cy="1188720"/>
          </a:xfrm>
          <a:prstGeom prst="ellipse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pic>
        <p:nvPicPr>
          <p:cNvPr id="125" name="ML ic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4324" y="4617720"/>
            <a:ext cx="713232" cy="713232"/>
          </a:xfrm>
          <a:prstGeom prst="rect">
            <a:avLst/>
          </a:prstGeom>
        </p:spPr>
      </p:pic>
      <p:sp>
        <p:nvSpPr>
          <p:cNvPr id="126" name="Caption"/>
          <p:cNvSpPr txBox="1"/>
          <p:nvPr/>
        </p:nvSpPr>
        <p:spPr>
          <a:xfrm>
            <a:off x="6400800" y="5715000"/>
            <a:ext cx="22402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GB" sz="1300" b="1" dirty="0">
                <a:solidFill>
                  <a:srgbClr val="1F2A37"/>
                </a:solidFill>
              </a:rPr>
              <a:t>Machine learning pairing raw cell data with clinical observations</a:t>
            </a:r>
          </a:p>
        </p:txBody>
      </p:sp>
      <p:sp>
        <p:nvSpPr>
          <p:cNvPr id="127" name="Arrow"/>
          <p:cNvSpPr/>
          <p:nvPr/>
        </p:nvSpPr>
        <p:spPr>
          <a:xfrm>
            <a:off x="3095244" y="4946904"/>
            <a:ext cx="237744" cy="274320"/>
          </a:xfrm>
          <a:prstGeom prst="rightArrow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 fontScale="55000" lnSpcReduction="20000"/>
          </a:bodyPr>
          <a:lstStyle/>
          <a:p>
            <a:endParaRPr lang="en-GB"/>
          </a:p>
        </p:txBody>
      </p:sp>
      <p:sp>
        <p:nvSpPr>
          <p:cNvPr id="128" name="Arrow"/>
          <p:cNvSpPr/>
          <p:nvPr/>
        </p:nvSpPr>
        <p:spPr>
          <a:xfrm>
            <a:off x="5966460" y="4946904"/>
            <a:ext cx="237744" cy="274320"/>
          </a:xfrm>
          <a:prstGeom prst="rightArrow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 fontScale="55000" lnSpcReduction="20000"/>
          </a:bodyPr>
          <a:lstStyle/>
          <a:p>
            <a:endParaRPr lang="en-GB"/>
          </a:p>
        </p:txBody>
      </p:sp>
      <p:sp>
        <p:nvSpPr>
          <p:cNvPr id="129" name="Arrow"/>
          <p:cNvSpPr/>
          <p:nvPr/>
        </p:nvSpPr>
        <p:spPr>
          <a:xfrm>
            <a:off x="8837676" y="4946904"/>
            <a:ext cx="237744" cy="274320"/>
          </a:xfrm>
          <a:prstGeom prst="rightArrow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 fontScale="55000" lnSpcReduction="20000"/>
          </a:bodyPr>
          <a:lstStyle/>
          <a:p>
            <a:endParaRPr lang="en-GB"/>
          </a:p>
        </p:txBody>
      </p:sp>
      <p:sp>
        <p:nvSpPr>
          <p:cNvPr id="130" name="Outcome"/>
          <p:cNvSpPr/>
          <p:nvPr/>
        </p:nvSpPr>
        <p:spPr>
          <a:xfrm>
            <a:off x="9162288" y="4224528"/>
            <a:ext cx="2459736" cy="2084832"/>
          </a:xfrm>
          <a:prstGeom prst="roundRect">
            <a:avLst>
              <a:gd name="adj" fmla="val 6000"/>
            </a:avLst>
          </a:prstGeom>
          <a:solidFill>
            <a:srgbClr val="003087"/>
          </a:solidFill>
          <a:ln>
            <a:noFill/>
          </a:ln>
          <a:effectLst>
            <a:outerShdw blurRad="76200" dist="19050" dir="5400000" algn="t" rotWithShape="0">
              <a:srgbClr val="000000">
                <a:alpha val="10000"/>
              </a:srgbClr>
            </a:outerShdw>
          </a:effectLst>
        </p:spPr>
        <p:txBody>
          <a:bodyPr wrap="square" lIns="201168" tIns="201168" rIns="201168" bIns="201168" rtlCol="0" anchor="ctr">
            <a:normAutofit/>
          </a:bodyPr>
          <a:lstStyle/>
          <a:p>
            <a:pPr algn="l">
              <a:spcAft>
                <a:spcPts val="800"/>
              </a:spcAft>
            </a:pPr>
            <a:r>
              <a:rPr lang="en-GB" sz="1800" b="1" dirty="0">
                <a:solidFill>
                  <a:srgbClr val="FFFFFF"/>
                </a:solidFill>
              </a:rPr>
              <a:t>Detection of disease signatures currently invisible</a:t>
            </a:r>
          </a:p>
          <a:p>
            <a:pPr algn="l"/>
            <a:r>
              <a:rPr lang="en-GB" sz="1300" dirty="0">
                <a:solidFill>
                  <a:srgbClr val="BFD8F2"/>
                </a:solidFill>
              </a:rPr>
              <a:t>From a test the NHS already runs every day</a:t>
            </a:r>
          </a:p>
        </p:txBody>
      </p:sp>
    </p:spTree>
    <p:extLst>
      <p:ext uri="{BB962C8B-B14F-4D97-AF65-F5344CB8AC3E}">
        <p14:creationId xmlns:p14="http://schemas.microsoft.com/office/powerpoint/2010/main" val="8121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42C22-C8E1-68B4-FE2D-97E79FD1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1672" cy="640080"/>
          </a:xfrm>
        </p:spPr>
        <p:txBody>
          <a:bodyPr lIns="0" tIns="0" rIns="0" bIns="0" anchor="b">
            <a:normAutofit/>
          </a:bodyPr>
          <a:lstStyle/>
          <a:p>
            <a:r>
              <a:rPr lang="en-GB" sz="3600" b="1" dirty="0">
                <a:solidFill>
                  <a:srgbClr val="003087"/>
                </a:solidFill>
                <a:latin typeface="+mn-lt"/>
              </a:rPr>
              <a:t>What we did</a:t>
            </a:r>
          </a:p>
        </p:txBody>
      </p:sp>
      <p:sp>
        <p:nvSpPr>
          <p:cNvPr id="201" name="Subtitle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GB" sz="1600" dirty="0">
                <a:solidFill>
                  <a:srgbClr val="5B6573"/>
                </a:solidFill>
              </a:rPr>
              <a:t>A proof of concept: can machine learning find a disease signature hidden in raw analyser data?</a:t>
            </a:r>
          </a:p>
        </p:txBody>
      </p:sp>
      <p:sp>
        <p:nvSpPr>
          <p:cNvPr id="202" name="Step card"/>
          <p:cNvSpPr/>
          <p:nvPr/>
        </p:nvSpPr>
        <p:spPr>
          <a:xfrm>
            <a:off x="548640" y="1691640"/>
            <a:ext cx="2459736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sp>
        <p:nvSpPr>
          <p:cNvPr id="203" name="Icon circle"/>
          <p:cNvSpPr/>
          <p:nvPr/>
        </p:nvSpPr>
        <p:spPr>
          <a:xfrm>
            <a:off x="777240" y="1965960"/>
            <a:ext cx="914400" cy="914400"/>
          </a:xfrm>
          <a:prstGeom prst="ellipse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pic>
        <p:nvPicPr>
          <p:cNvPr id="204" name="Step ic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157984"/>
            <a:ext cx="530352" cy="530352"/>
          </a:xfrm>
          <a:prstGeom prst="rect">
            <a:avLst/>
          </a:prstGeom>
        </p:spPr>
      </p:pic>
      <p:sp>
        <p:nvSpPr>
          <p:cNvPr id="205" name="Step number"/>
          <p:cNvSpPr txBox="1"/>
          <p:nvPr/>
        </p:nvSpPr>
        <p:spPr>
          <a:xfrm>
            <a:off x="1874520" y="19659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GB" sz="3200" b="1" dirty="0">
                <a:solidFill>
                  <a:srgbClr val="C9D9EE"/>
                </a:solidFill>
              </a:rPr>
              <a:t>01</a:t>
            </a:r>
          </a:p>
        </p:txBody>
      </p:sp>
      <p:sp>
        <p:nvSpPr>
          <p:cNvPr id="206" name="Step heading"/>
          <p:cNvSpPr txBox="1"/>
          <p:nvPr/>
        </p:nvSpPr>
        <p:spPr>
          <a:xfrm>
            <a:off x="777240" y="3063240"/>
            <a:ext cx="20025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GB" sz="1800" b="1" dirty="0">
                <a:solidFill>
                  <a:srgbClr val="003087"/>
                </a:solidFill>
              </a:rPr>
              <a:t>Real Sysmex data</a:t>
            </a:r>
          </a:p>
        </p:txBody>
      </p:sp>
      <p:sp>
        <p:nvSpPr>
          <p:cNvPr id="207" name="Step text"/>
          <p:cNvSpPr txBox="1"/>
          <p:nvPr/>
        </p:nvSpPr>
        <p:spPr>
          <a:xfrm>
            <a:off x="777240" y="3566160"/>
            <a:ext cx="2002536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GB" sz="1400" dirty="0">
                <a:solidFill>
                  <a:srgbClr val="1F2A37"/>
                </a:solidFill>
              </a:rPr>
              <a:t>Existing body-fluid dataset (Ai </a:t>
            </a:r>
            <a:r>
              <a:rPr lang="en-GB" sz="1400" i="1" dirty="0">
                <a:solidFill>
                  <a:srgbClr val="1F2A37"/>
                </a:solidFill>
              </a:rPr>
              <a:t>et al.</a:t>
            </a:r>
            <a:r>
              <a:rPr lang="en-GB" sz="1400" dirty="0">
                <a:solidFill>
                  <a:srgbClr val="1F2A37"/>
                </a:solidFill>
              </a:rPr>
              <a:t> 2018), run on the same Sysmex analysers used in the NHS</a:t>
            </a:r>
          </a:p>
        </p:txBody>
      </p:sp>
      <p:sp>
        <p:nvSpPr>
          <p:cNvPr id="208" name="Arrow"/>
          <p:cNvSpPr/>
          <p:nvPr/>
        </p:nvSpPr>
        <p:spPr>
          <a:xfrm>
            <a:off x="3095244" y="2286000"/>
            <a:ext cx="237744" cy="274320"/>
          </a:xfrm>
          <a:prstGeom prst="rightArrow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 fontScale="55000" lnSpcReduction="20000"/>
          </a:bodyPr>
          <a:lstStyle/>
          <a:p>
            <a:endParaRPr lang="en-GB"/>
          </a:p>
        </p:txBody>
      </p:sp>
      <p:sp>
        <p:nvSpPr>
          <p:cNvPr id="209" name="Step card"/>
          <p:cNvSpPr/>
          <p:nvPr/>
        </p:nvSpPr>
        <p:spPr>
          <a:xfrm>
            <a:off x="3419856" y="1691640"/>
            <a:ext cx="2459736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sp>
        <p:nvSpPr>
          <p:cNvPr id="210" name="Icon circle"/>
          <p:cNvSpPr/>
          <p:nvPr/>
        </p:nvSpPr>
        <p:spPr>
          <a:xfrm>
            <a:off x="3648456" y="1965960"/>
            <a:ext cx="914400" cy="914400"/>
          </a:xfrm>
          <a:prstGeom prst="ellipse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pic>
        <p:nvPicPr>
          <p:cNvPr id="211" name="Step ic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157984"/>
            <a:ext cx="530352" cy="530352"/>
          </a:xfrm>
          <a:prstGeom prst="rect">
            <a:avLst/>
          </a:prstGeom>
        </p:spPr>
      </p:pic>
      <p:sp>
        <p:nvSpPr>
          <p:cNvPr id="212" name="Step number"/>
          <p:cNvSpPr txBox="1"/>
          <p:nvPr/>
        </p:nvSpPr>
        <p:spPr>
          <a:xfrm>
            <a:off x="4745736" y="19659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GB" sz="3200" b="1" dirty="0">
                <a:solidFill>
                  <a:srgbClr val="C9D9EE"/>
                </a:solidFill>
              </a:rPr>
              <a:t>02</a:t>
            </a:r>
          </a:p>
        </p:txBody>
      </p:sp>
      <p:sp>
        <p:nvSpPr>
          <p:cNvPr id="213" name="Step heading"/>
          <p:cNvSpPr txBox="1"/>
          <p:nvPr/>
        </p:nvSpPr>
        <p:spPr>
          <a:xfrm>
            <a:off x="3648456" y="3063240"/>
            <a:ext cx="20025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GB" sz="1800" b="1" dirty="0">
                <a:solidFill>
                  <a:srgbClr val="003087"/>
                </a:solidFill>
              </a:rPr>
              <a:t>Synthetic cohort</a:t>
            </a:r>
          </a:p>
        </p:txBody>
      </p:sp>
      <p:sp>
        <p:nvSpPr>
          <p:cNvPr id="214" name="Step text"/>
          <p:cNvSpPr txBox="1"/>
          <p:nvPr/>
        </p:nvSpPr>
        <p:spPr>
          <a:xfrm>
            <a:off x="3648456" y="3566160"/>
            <a:ext cx="2002536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GB" sz="1400" dirty="0">
                <a:solidFill>
                  <a:srgbClr val="1F2A37"/>
                </a:solidFill>
              </a:rPr>
              <a:t>Hundreds of synthetic datasets generated from it, modelling natural biological variation</a:t>
            </a:r>
          </a:p>
        </p:txBody>
      </p:sp>
      <p:sp>
        <p:nvSpPr>
          <p:cNvPr id="215" name="Arrow"/>
          <p:cNvSpPr/>
          <p:nvPr/>
        </p:nvSpPr>
        <p:spPr>
          <a:xfrm>
            <a:off x="5966460" y="2286000"/>
            <a:ext cx="237744" cy="274320"/>
          </a:xfrm>
          <a:prstGeom prst="rightArrow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 fontScale="55000" lnSpcReduction="20000"/>
          </a:bodyPr>
          <a:lstStyle/>
          <a:p>
            <a:endParaRPr lang="en-GB"/>
          </a:p>
        </p:txBody>
      </p:sp>
      <p:sp>
        <p:nvSpPr>
          <p:cNvPr id="216" name="Step card"/>
          <p:cNvSpPr/>
          <p:nvPr/>
        </p:nvSpPr>
        <p:spPr>
          <a:xfrm>
            <a:off x="6291072" y="1691640"/>
            <a:ext cx="2459736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sp>
        <p:nvSpPr>
          <p:cNvPr id="217" name="Icon circle"/>
          <p:cNvSpPr/>
          <p:nvPr/>
        </p:nvSpPr>
        <p:spPr>
          <a:xfrm>
            <a:off x="6519672" y="1965960"/>
            <a:ext cx="914400" cy="914400"/>
          </a:xfrm>
          <a:prstGeom prst="ellipse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pic>
        <p:nvPicPr>
          <p:cNvPr id="218" name="Step ic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2157984"/>
            <a:ext cx="530352" cy="530352"/>
          </a:xfrm>
          <a:prstGeom prst="rect">
            <a:avLst/>
          </a:prstGeom>
        </p:spPr>
      </p:pic>
      <p:sp>
        <p:nvSpPr>
          <p:cNvPr id="219" name="Step number"/>
          <p:cNvSpPr txBox="1"/>
          <p:nvPr/>
        </p:nvSpPr>
        <p:spPr>
          <a:xfrm>
            <a:off x="7616952" y="19659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GB" sz="3200" b="1" dirty="0">
                <a:solidFill>
                  <a:srgbClr val="C9D9EE"/>
                </a:solidFill>
              </a:rPr>
              <a:t>03</a:t>
            </a:r>
          </a:p>
        </p:txBody>
      </p:sp>
      <p:sp>
        <p:nvSpPr>
          <p:cNvPr id="220" name="Step heading"/>
          <p:cNvSpPr txBox="1"/>
          <p:nvPr/>
        </p:nvSpPr>
        <p:spPr>
          <a:xfrm>
            <a:off x="6519672" y="3063240"/>
            <a:ext cx="20025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GB" sz="1800" b="1" dirty="0">
                <a:solidFill>
                  <a:srgbClr val="003087"/>
                </a:solidFill>
              </a:rPr>
              <a:t>MDS signature</a:t>
            </a:r>
          </a:p>
        </p:txBody>
      </p:sp>
      <p:sp>
        <p:nvSpPr>
          <p:cNvPr id="221" name="Step text"/>
          <p:cNvSpPr txBox="1"/>
          <p:nvPr/>
        </p:nvSpPr>
        <p:spPr>
          <a:xfrm>
            <a:off x="6519672" y="3566160"/>
            <a:ext cx="2002536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GB" sz="1400" dirty="0">
                <a:solidFill>
                  <a:srgbClr val="1F2A37"/>
                </a:solidFill>
              </a:rPr>
              <a:t>A myelodysplastic syndrome (</a:t>
            </a:r>
            <a:r>
              <a:rPr lang="en-GB" sz="1400" dirty="0">
                <a:solidFill>
                  <a:srgbClr val="1F2A37"/>
                </a:solidFill>
                <a:hlinkClick r:id="rId5"/>
              </a:rPr>
              <a:t>MDS</a:t>
            </a:r>
            <a:r>
              <a:rPr lang="en-GB" sz="1400" dirty="0">
                <a:solidFill>
                  <a:srgbClr val="1F2A37"/>
                </a:solidFill>
              </a:rPr>
              <a:t>) signature added at a range of strengths</a:t>
            </a:r>
          </a:p>
        </p:txBody>
      </p:sp>
      <p:sp>
        <p:nvSpPr>
          <p:cNvPr id="222" name="Arrow"/>
          <p:cNvSpPr/>
          <p:nvPr/>
        </p:nvSpPr>
        <p:spPr>
          <a:xfrm>
            <a:off x="8837676" y="2286000"/>
            <a:ext cx="237744" cy="274320"/>
          </a:xfrm>
          <a:prstGeom prst="rightArrow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 fontScale="55000" lnSpcReduction="20000"/>
          </a:bodyPr>
          <a:lstStyle/>
          <a:p>
            <a:endParaRPr lang="en-GB"/>
          </a:p>
        </p:txBody>
      </p:sp>
      <p:sp>
        <p:nvSpPr>
          <p:cNvPr id="223" name="Step card"/>
          <p:cNvSpPr/>
          <p:nvPr/>
        </p:nvSpPr>
        <p:spPr>
          <a:xfrm>
            <a:off x="9162288" y="1691640"/>
            <a:ext cx="2459736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  <a:effectLst>
            <a:outerShdw blurRad="76200" dist="19050" dir="5400000" algn="t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sp>
        <p:nvSpPr>
          <p:cNvPr id="224" name="Icon circle"/>
          <p:cNvSpPr/>
          <p:nvPr/>
        </p:nvSpPr>
        <p:spPr>
          <a:xfrm>
            <a:off x="9390888" y="1965960"/>
            <a:ext cx="914400" cy="914400"/>
          </a:xfrm>
          <a:prstGeom prst="ellipse">
            <a:avLst/>
          </a:prstGeom>
          <a:solidFill>
            <a:srgbClr val="005EB8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pic>
        <p:nvPicPr>
          <p:cNvPr id="225" name="Step ic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912" y="2157984"/>
            <a:ext cx="530352" cy="530352"/>
          </a:xfrm>
          <a:prstGeom prst="rect">
            <a:avLst/>
          </a:prstGeom>
        </p:spPr>
      </p:pic>
      <p:sp>
        <p:nvSpPr>
          <p:cNvPr id="226" name="Step number"/>
          <p:cNvSpPr txBox="1"/>
          <p:nvPr/>
        </p:nvSpPr>
        <p:spPr>
          <a:xfrm>
            <a:off x="10488168" y="19659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GB" sz="3200" b="1" dirty="0">
                <a:solidFill>
                  <a:srgbClr val="C9D9EE"/>
                </a:solidFill>
              </a:rPr>
              <a:t>04</a:t>
            </a:r>
          </a:p>
        </p:txBody>
      </p:sp>
      <p:sp>
        <p:nvSpPr>
          <p:cNvPr id="227" name="Step heading"/>
          <p:cNvSpPr txBox="1"/>
          <p:nvPr/>
        </p:nvSpPr>
        <p:spPr>
          <a:xfrm>
            <a:off x="9390888" y="3063240"/>
            <a:ext cx="20025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GB" sz="1800" b="1" dirty="0">
                <a:solidFill>
                  <a:srgbClr val="003087"/>
                </a:solidFill>
              </a:rPr>
              <a:t>Model training</a:t>
            </a:r>
          </a:p>
        </p:txBody>
      </p:sp>
      <p:sp>
        <p:nvSpPr>
          <p:cNvPr id="228" name="Step text"/>
          <p:cNvSpPr txBox="1"/>
          <p:nvPr/>
        </p:nvSpPr>
        <p:spPr>
          <a:xfrm>
            <a:off x="9390888" y="3566160"/>
            <a:ext cx="2002536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GB" sz="1400" dirty="0">
                <a:solidFill>
                  <a:srgbClr val="1F2A37"/>
                </a:solidFill>
              </a:rPr>
              <a:t>Histogram gradient boosting model trained to predict which samples carry the signature</a:t>
            </a:r>
          </a:p>
        </p:txBody>
      </p:sp>
      <p:sp>
        <p:nvSpPr>
          <p:cNvPr id="229" name="Question band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en-GB"/>
          </a:p>
        </p:txBody>
      </p:sp>
      <p:sp>
        <p:nvSpPr>
          <p:cNvPr id="230" name="Strength label"/>
          <p:cNvSpPr txBox="1"/>
          <p:nvPr/>
        </p:nvSpPr>
        <p:spPr>
          <a:xfrm>
            <a:off x="868680" y="5385816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GB" sz="1100" b="1" spc="100" dirty="0">
                <a:solidFill>
                  <a:srgbClr val="005EB8"/>
                </a:solidFill>
              </a:rPr>
              <a:t>SIGNATURE STRENGTH</a:t>
            </a:r>
          </a:p>
        </p:txBody>
      </p:sp>
      <p:sp>
        <p:nvSpPr>
          <p:cNvPr id="231" name="Strength bar"/>
          <p:cNvSpPr/>
          <p:nvPr/>
        </p:nvSpPr>
        <p:spPr>
          <a:xfrm>
            <a:off x="868680" y="56692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3087">
              <a:alpha val="100000"/>
            </a:srgbClr>
          </a:solidFill>
          <a:ln>
            <a:noFill/>
          </a:ln>
        </p:spPr>
        <p:txBody>
          <a:bodyPr wrap="square" lIns="0" tIns="0" rIns="0" bIns="0" rtlCol="0" anchor="t">
            <a:normAutofit lnSpcReduction="10000"/>
          </a:bodyPr>
          <a:lstStyle/>
          <a:p>
            <a:endParaRPr lang="en-GB"/>
          </a:p>
        </p:txBody>
      </p:sp>
      <p:sp>
        <p:nvSpPr>
          <p:cNvPr id="232" name="Strength bar"/>
          <p:cNvSpPr/>
          <p:nvPr/>
        </p:nvSpPr>
        <p:spPr>
          <a:xfrm>
            <a:off x="1271016" y="56692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3087">
              <a:alpha val="85333"/>
            </a:srgbClr>
          </a:solidFill>
          <a:ln>
            <a:noFill/>
          </a:ln>
        </p:spPr>
        <p:txBody>
          <a:bodyPr wrap="square" lIns="0" tIns="0" rIns="0" bIns="0" rtlCol="0" anchor="t">
            <a:normAutofit lnSpcReduction="10000"/>
          </a:bodyPr>
          <a:lstStyle/>
          <a:p>
            <a:endParaRPr lang="en-GB"/>
          </a:p>
        </p:txBody>
      </p:sp>
      <p:sp>
        <p:nvSpPr>
          <p:cNvPr id="233" name="Strength bar"/>
          <p:cNvSpPr/>
          <p:nvPr/>
        </p:nvSpPr>
        <p:spPr>
          <a:xfrm>
            <a:off x="1673352" y="56692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3087">
              <a:alpha val="70666"/>
            </a:srgbClr>
          </a:solidFill>
          <a:ln>
            <a:noFill/>
          </a:ln>
        </p:spPr>
        <p:txBody>
          <a:bodyPr wrap="square" lIns="0" tIns="0" rIns="0" bIns="0" rtlCol="0" anchor="t">
            <a:normAutofit lnSpcReduction="10000"/>
          </a:bodyPr>
          <a:lstStyle/>
          <a:p>
            <a:endParaRPr lang="en-GB"/>
          </a:p>
        </p:txBody>
      </p:sp>
      <p:sp>
        <p:nvSpPr>
          <p:cNvPr id="234" name="Strength bar"/>
          <p:cNvSpPr/>
          <p:nvPr/>
        </p:nvSpPr>
        <p:spPr>
          <a:xfrm>
            <a:off x="2075688" y="56692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3087">
              <a:alpha val="56000"/>
            </a:srgbClr>
          </a:solidFill>
          <a:ln>
            <a:noFill/>
          </a:ln>
        </p:spPr>
        <p:txBody>
          <a:bodyPr wrap="square" lIns="0" tIns="0" rIns="0" bIns="0" rtlCol="0" anchor="t">
            <a:normAutofit lnSpcReduction="10000"/>
          </a:bodyPr>
          <a:lstStyle/>
          <a:p>
            <a:endParaRPr lang="en-GB"/>
          </a:p>
        </p:txBody>
      </p:sp>
      <p:sp>
        <p:nvSpPr>
          <p:cNvPr id="235" name="Strength bar"/>
          <p:cNvSpPr/>
          <p:nvPr/>
        </p:nvSpPr>
        <p:spPr>
          <a:xfrm>
            <a:off x="2478024" y="56692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3087">
              <a:alpha val="41333"/>
            </a:srgbClr>
          </a:solidFill>
          <a:ln>
            <a:noFill/>
          </a:ln>
        </p:spPr>
        <p:txBody>
          <a:bodyPr wrap="square" lIns="0" tIns="0" rIns="0" bIns="0" rtlCol="0" anchor="t">
            <a:normAutofit lnSpcReduction="10000"/>
          </a:bodyPr>
          <a:lstStyle/>
          <a:p>
            <a:endParaRPr lang="en-GB"/>
          </a:p>
        </p:txBody>
      </p:sp>
      <p:sp>
        <p:nvSpPr>
          <p:cNvPr id="236" name="Strength bar"/>
          <p:cNvSpPr/>
          <p:nvPr/>
        </p:nvSpPr>
        <p:spPr>
          <a:xfrm>
            <a:off x="2880360" y="56692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3087">
              <a:alpha val="26666"/>
            </a:srgbClr>
          </a:solidFill>
          <a:ln>
            <a:noFill/>
          </a:ln>
        </p:spPr>
        <p:txBody>
          <a:bodyPr wrap="square" lIns="0" tIns="0" rIns="0" bIns="0" rtlCol="0" anchor="t">
            <a:normAutofit lnSpcReduction="10000"/>
          </a:bodyPr>
          <a:lstStyle/>
          <a:p>
            <a:endParaRPr lang="en-GB"/>
          </a:p>
        </p:txBody>
      </p:sp>
      <p:sp>
        <p:nvSpPr>
          <p:cNvPr id="237" name="Strength bar"/>
          <p:cNvSpPr/>
          <p:nvPr/>
        </p:nvSpPr>
        <p:spPr>
          <a:xfrm>
            <a:off x="3282696" y="566928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3087">
              <a:alpha val="12000"/>
            </a:srgbClr>
          </a:solidFill>
          <a:ln>
            <a:noFill/>
          </a:ln>
        </p:spPr>
        <p:txBody>
          <a:bodyPr wrap="square" lIns="0" tIns="0" rIns="0" bIns="0" rtlCol="0" anchor="t">
            <a:normAutofit lnSpcReduction="10000"/>
          </a:bodyPr>
          <a:lstStyle/>
          <a:p>
            <a:endParaRPr lang="en-GB"/>
          </a:p>
        </p:txBody>
      </p:sp>
      <p:sp>
        <p:nvSpPr>
          <p:cNvPr id="238" name="Strong"/>
          <p:cNvSpPr txBox="1"/>
          <p:nvPr/>
        </p:nvSpPr>
        <p:spPr>
          <a:xfrm>
            <a:off x="868680" y="59893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GB" sz="1100" dirty="0">
                <a:solidFill>
                  <a:srgbClr val="5B6573"/>
                </a:solidFill>
              </a:rPr>
              <a:t>Strong</a:t>
            </a:r>
          </a:p>
        </p:txBody>
      </p:sp>
      <p:sp>
        <p:nvSpPr>
          <p:cNvPr id="239" name="Subtle"/>
          <p:cNvSpPr txBox="1"/>
          <p:nvPr/>
        </p:nvSpPr>
        <p:spPr>
          <a:xfrm>
            <a:off x="2478024" y="59893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GB" sz="1100" dirty="0">
                <a:solidFill>
                  <a:srgbClr val="5B6573"/>
                </a:solidFill>
              </a:rPr>
              <a:t>Subtle</a:t>
            </a:r>
          </a:p>
        </p:txBody>
      </p:sp>
      <p:sp>
        <p:nvSpPr>
          <p:cNvPr id="240" name="Key question"/>
          <p:cNvSpPr txBox="1"/>
          <p:nvPr/>
        </p:nvSpPr>
        <p:spPr>
          <a:xfrm>
            <a:off x="4069080" y="5257800"/>
            <a:ext cx="73152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200"/>
              </a:spcAft>
            </a:pPr>
            <a:r>
              <a:rPr lang="en-GB" sz="1100" b="1" spc="100" dirty="0">
                <a:solidFill>
                  <a:srgbClr val="005EB8"/>
                </a:solidFill>
              </a:rPr>
              <a:t>KEY QUESTION</a:t>
            </a:r>
          </a:p>
          <a:p>
            <a:pPr algn="l"/>
            <a:r>
              <a:rPr lang="en-GB" sz="2000" b="1" dirty="0">
                <a:solidFill>
                  <a:srgbClr val="003087"/>
                </a:solidFill>
              </a:rPr>
              <a:t>How subtle can the signature get and still be detected?</a:t>
            </a:r>
          </a:p>
        </p:txBody>
      </p:sp>
    </p:spTree>
    <p:extLst>
      <p:ext uri="{BB962C8B-B14F-4D97-AF65-F5344CB8AC3E}">
        <p14:creationId xmlns:p14="http://schemas.microsoft.com/office/powerpoint/2010/main" val="274007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C1AC075-C0B4-1CAC-1A30-C6EE5F3EF506}"/>
              </a:ext>
            </a:extLst>
          </p:cNvPr>
          <p:cNvSpPr/>
          <p:nvPr/>
        </p:nvSpPr>
        <p:spPr>
          <a:xfrm>
            <a:off x="-758757" y="-894945"/>
            <a:ext cx="14455302" cy="963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8CCEC6B-B38D-41B9-9237-EE98A5FBA24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Cell Bench in the Real World</a:t>
            </a:r>
          </a:p>
        </p:txBody>
      </p:sp>
      <p:sp>
        <p:nvSpPr>
          <p:cNvPr id="3" name="context">
            <a:extLst>
              <a:ext uri="{FF2B5EF4-FFF2-40B4-BE49-F238E27FC236}">
                <a16:creationId xmlns:a16="http://schemas.microsoft.com/office/drawing/2014/main" id="{D2BDA837-0B44-4055-AB9C-8C0C80E66DD5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A8BEC8"/>
                </a:solidFill>
              </a:defRPr>
            </a:defPPr>
            <a:lvl1pPr>
              <a:defRPr sz="1725" b="0">
                <a:solidFill>
                  <a:srgbClr val="A8BEC8"/>
                </a:solidFill>
              </a:defRPr>
            </a:lvl1pPr>
            <a:lvl2pPr>
              <a:defRPr sz="1725" b="0">
                <a:solidFill>
                  <a:srgbClr val="A8BEC8"/>
                </a:solidFill>
              </a:defRPr>
            </a:lvl2pPr>
            <a:lvl3pPr>
              <a:defRPr sz="1725" b="0">
                <a:solidFill>
                  <a:srgbClr val="A8BEC8"/>
                </a:solidFill>
              </a:defRPr>
            </a:lvl3pPr>
            <a:lvl4pPr>
              <a:defRPr sz="1725" b="0">
                <a:solidFill>
                  <a:srgbClr val="A8BEC8"/>
                </a:solidFill>
              </a:defRPr>
            </a:lvl4pPr>
            <a:lvl5pPr>
              <a:defRPr sz="1725" b="0">
                <a:solidFill>
                  <a:srgbClr val="A8BEC8"/>
                </a:solidFill>
              </a:defRPr>
            </a:lvl5pPr>
            <a:lvl6pPr>
              <a:defRPr sz="1725" b="0">
                <a:solidFill>
                  <a:srgbClr val="A8BEC8"/>
                </a:solidFill>
              </a:defRPr>
            </a:lvl6pPr>
            <a:lvl7pPr>
              <a:defRPr sz="1725" b="0">
                <a:solidFill>
                  <a:srgbClr val="A8BEC8"/>
                </a:solidFill>
              </a:defRPr>
            </a:lvl7pPr>
            <a:lvl8pPr>
              <a:defRPr sz="1725" b="0">
                <a:solidFill>
                  <a:srgbClr val="A8BEC8"/>
                </a:solidFill>
              </a:defRPr>
            </a:lvl8pPr>
            <a:lvl9pPr>
              <a:defRPr sz="1725" b="0">
                <a:solidFill>
                  <a:srgbClr val="A8BEC8"/>
                </a:solidFill>
              </a:defRPr>
            </a:lvl9pPr>
          </a:lstStyle>
          <a:p>
            <a:pPr>
              <a:defRPr sz="1725" b="0">
                <a:solidFill>
                  <a:srgbClr val="A8BEC8"/>
                </a:solidFill>
              </a:defRPr>
            </a:pPr>
            <a:r>
              <a:rPr sz="1725" b="0">
                <a:solidFill>
                  <a:srgbClr val="A8BEC8"/>
                </a:solidFill>
              </a:rPr>
              <a:t>In the context of the 10 Year Health Plan</a:t>
            </a:r>
          </a:p>
        </p:txBody>
      </p:sp>
      <p:sp>
        <p:nvSpPr>
          <p:cNvPr id="4" name="today-label">
            <a:extLst>
              <a:ext uri="{FF2B5EF4-FFF2-40B4-BE49-F238E27FC236}">
                <a16:creationId xmlns:a16="http://schemas.microsoft.com/office/drawing/2014/main" id="{C28A0EC4-7776-486D-88CA-6E2F1D329F4F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E6B497"/>
                </a:solidFill>
              </a:defRPr>
            </a:defPPr>
            <a:lvl1pPr>
              <a:defRPr sz="1350" b="1">
                <a:solidFill>
                  <a:srgbClr val="E6B497"/>
                </a:solidFill>
              </a:defRPr>
            </a:lvl1pPr>
            <a:lvl2pPr>
              <a:defRPr sz="1350" b="1">
                <a:solidFill>
                  <a:srgbClr val="E6B497"/>
                </a:solidFill>
              </a:defRPr>
            </a:lvl2pPr>
            <a:lvl3pPr>
              <a:defRPr sz="1350" b="1">
                <a:solidFill>
                  <a:srgbClr val="E6B497"/>
                </a:solidFill>
              </a:defRPr>
            </a:lvl3pPr>
            <a:lvl4pPr>
              <a:defRPr sz="1350" b="1">
                <a:solidFill>
                  <a:srgbClr val="E6B497"/>
                </a:solidFill>
              </a:defRPr>
            </a:lvl4pPr>
            <a:lvl5pPr>
              <a:defRPr sz="1350" b="1">
                <a:solidFill>
                  <a:srgbClr val="E6B497"/>
                </a:solidFill>
              </a:defRPr>
            </a:lvl5pPr>
            <a:lvl6pPr>
              <a:defRPr sz="1350" b="1">
                <a:solidFill>
                  <a:srgbClr val="E6B497"/>
                </a:solidFill>
              </a:defRPr>
            </a:lvl6pPr>
            <a:lvl7pPr>
              <a:defRPr sz="1350" b="1">
                <a:solidFill>
                  <a:srgbClr val="E6B497"/>
                </a:solidFill>
              </a:defRPr>
            </a:lvl7pPr>
            <a:lvl8pPr>
              <a:defRPr sz="1350" b="1">
                <a:solidFill>
                  <a:srgbClr val="E6B497"/>
                </a:solidFill>
              </a:defRPr>
            </a:lvl8pPr>
            <a:lvl9pPr>
              <a:defRPr sz="1350" b="1">
                <a:solidFill>
                  <a:srgbClr val="E6B497"/>
                </a:solidFill>
              </a:defRPr>
            </a:lvl9pPr>
          </a:lstStyle>
          <a:p>
            <a:pPr>
              <a:defRPr sz="1350" b="1">
                <a:solidFill>
                  <a:srgbClr val="E6B497"/>
                </a:solidFill>
              </a:defRPr>
            </a:pPr>
            <a:r>
              <a:rPr sz="1350" b="1">
                <a:solidFill>
                  <a:srgbClr val="E6B497"/>
                </a:solidFill>
              </a:rPr>
              <a:t>TODAY</a:t>
            </a:r>
          </a:p>
        </p:txBody>
      </p:sp>
      <p:sp>
        <p:nvSpPr>
          <p:cNvPr id="5" name="today-title">
            <a:extLst>
              <a:ext uri="{FF2B5EF4-FFF2-40B4-BE49-F238E27FC236}">
                <a16:creationId xmlns:a16="http://schemas.microsoft.com/office/drawing/2014/main" id="{3F70D58F-7E12-4963-B8B9-4077FD741DB1}"/>
              </a:ext>
            </a:extLst>
          </p:cNvPr>
          <p:cNvSpPr>
            <a:spLocks noGrp="1"/>
          </p:cNvSpPr>
          <p:nvPr/>
        </p:nvSpPr>
        <p:spPr>
          <a:xfrm>
            <a:off x="628650" y="2428875"/>
            <a:ext cx="3286125" cy="1104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FFFFFF"/>
                </a:solidFill>
              </a:defRPr>
            </a:defPPr>
            <a:lvl1pPr>
              <a:defRPr sz="2700" b="1">
                <a:solidFill>
                  <a:srgbClr val="FFFFFF"/>
                </a:solidFill>
              </a:defRPr>
            </a:lvl1pPr>
            <a:lvl2pPr>
              <a:defRPr sz="2700" b="1">
                <a:solidFill>
                  <a:srgbClr val="FFFFFF"/>
                </a:solidFill>
              </a:defRPr>
            </a:lvl2pPr>
            <a:lvl3pPr>
              <a:defRPr sz="2700" b="1">
                <a:solidFill>
                  <a:srgbClr val="FFFFFF"/>
                </a:solidFill>
              </a:defRPr>
            </a:lvl3pPr>
            <a:lvl4pPr>
              <a:defRPr sz="2700" b="1">
                <a:solidFill>
                  <a:srgbClr val="FFFFFF"/>
                </a:solidFill>
              </a:defRPr>
            </a:lvl4pPr>
            <a:lvl5pPr>
              <a:defRPr sz="2700" b="1">
                <a:solidFill>
                  <a:srgbClr val="FFFFFF"/>
                </a:solidFill>
              </a:defRPr>
            </a:lvl5pPr>
            <a:lvl6pPr>
              <a:defRPr sz="2700" b="1">
                <a:solidFill>
                  <a:srgbClr val="FFFFFF"/>
                </a:solidFill>
              </a:defRPr>
            </a:lvl6pPr>
            <a:lvl7pPr>
              <a:defRPr sz="2700" b="1">
                <a:solidFill>
                  <a:srgbClr val="FFFFFF"/>
                </a:solidFill>
              </a:defRPr>
            </a:lvl7pPr>
            <a:lvl8pPr>
              <a:defRPr sz="2700" b="1">
                <a:solidFill>
                  <a:srgbClr val="FFFFFF"/>
                </a:solidFill>
              </a:defRPr>
            </a:lvl8pPr>
            <a:lvl9pPr>
              <a:defRPr sz="2700" b="1">
                <a:solidFill>
                  <a:srgbClr val="FFFFFF"/>
                </a:solidFill>
              </a:defRPr>
            </a:lvl9pPr>
          </a:lstStyle>
          <a:p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Fragmented</a:t>
            </a:r>
          </a:p>
          <a:p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patient data</a:t>
            </a:r>
          </a:p>
        </p:txBody>
      </p:sp>
      <p:sp>
        <p:nvSpPr>
          <p:cNvPr id="6" name="today-body">
            <a:extLst>
              <a:ext uri="{FF2B5EF4-FFF2-40B4-BE49-F238E27FC236}">
                <a16:creationId xmlns:a16="http://schemas.microsoft.com/office/drawing/2014/main" id="{CDE45F8E-CBC0-417E-AFFC-CE4A1AA281CB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333375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C6D6DC"/>
                </a:solidFill>
              </a:defRPr>
            </a:defPPr>
            <a:lvl1pPr>
              <a:defRPr sz="1875" b="0">
                <a:solidFill>
                  <a:srgbClr val="C6D6DC"/>
                </a:solidFill>
              </a:defRPr>
            </a:lvl1pPr>
            <a:lvl2pPr>
              <a:defRPr sz="1875" b="0">
                <a:solidFill>
                  <a:srgbClr val="C6D6DC"/>
                </a:solidFill>
              </a:defRPr>
            </a:lvl2pPr>
            <a:lvl3pPr>
              <a:defRPr sz="1875" b="0">
                <a:solidFill>
                  <a:srgbClr val="C6D6DC"/>
                </a:solidFill>
              </a:defRPr>
            </a:lvl3pPr>
            <a:lvl4pPr>
              <a:defRPr sz="1875" b="0">
                <a:solidFill>
                  <a:srgbClr val="C6D6DC"/>
                </a:solidFill>
              </a:defRPr>
            </a:lvl4pPr>
            <a:lvl5pPr>
              <a:defRPr sz="1875" b="0">
                <a:solidFill>
                  <a:srgbClr val="C6D6DC"/>
                </a:solidFill>
              </a:defRPr>
            </a:lvl5pPr>
            <a:lvl6pPr>
              <a:defRPr sz="1875" b="0">
                <a:solidFill>
                  <a:srgbClr val="C6D6DC"/>
                </a:solidFill>
              </a:defRPr>
            </a:lvl6pPr>
            <a:lvl7pPr>
              <a:defRPr sz="1875" b="0">
                <a:solidFill>
                  <a:srgbClr val="C6D6DC"/>
                </a:solidFill>
              </a:defRPr>
            </a:lvl7pPr>
            <a:lvl8pPr>
              <a:defRPr sz="1875" b="0">
                <a:solidFill>
                  <a:srgbClr val="C6D6DC"/>
                </a:solidFill>
              </a:defRPr>
            </a:lvl8pPr>
            <a:lvl9pPr>
              <a:defRPr sz="1875" b="0">
                <a:solidFill>
                  <a:srgbClr val="C6D6DC"/>
                </a:solidFill>
              </a:defRPr>
            </a:lvl9pPr>
          </a:lstStyle>
          <a:p>
            <a:pPr>
              <a:defRPr sz="1875" b="0">
                <a:solidFill>
                  <a:srgbClr val="C6D6DC"/>
                </a:solidFill>
              </a:defRPr>
            </a:pPr>
            <a:r>
              <a:rPr sz="1875" b="0">
                <a:solidFill>
                  <a:srgbClr val="C6D6DC"/>
                </a:solidFill>
              </a:rPr>
              <a:t>Data sits in separate systems.</a:t>
            </a:r>
          </a:p>
        </p:txBody>
      </p:sp>
      <p:sp>
        <p:nvSpPr>
          <p:cNvPr id="7" name="opportunity-label">
            <a:extLst>
              <a:ext uri="{FF2B5EF4-FFF2-40B4-BE49-F238E27FC236}">
                <a16:creationId xmlns:a16="http://schemas.microsoft.com/office/drawing/2014/main" id="{9357E29A-0F3D-4E9E-9D3E-11D326D50A1D}"/>
              </a:ext>
            </a:extLst>
          </p:cNvPr>
          <p:cNvSpPr>
            <a:spLocks noGrp="1"/>
          </p:cNvSpPr>
          <p:nvPr/>
        </p:nvSpPr>
        <p:spPr>
          <a:xfrm>
            <a:off x="4733925" y="2038350"/>
            <a:ext cx="6762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8ADBC9"/>
                </a:solidFill>
              </a:defRPr>
            </a:defPPr>
            <a:lvl1pPr>
              <a:defRPr sz="1350" b="1">
                <a:solidFill>
                  <a:srgbClr val="8ADBC9"/>
                </a:solidFill>
              </a:defRPr>
            </a:lvl1pPr>
            <a:lvl2pPr>
              <a:defRPr sz="1350" b="1">
                <a:solidFill>
                  <a:srgbClr val="8ADBC9"/>
                </a:solidFill>
              </a:defRPr>
            </a:lvl2pPr>
            <a:lvl3pPr>
              <a:defRPr sz="1350" b="1">
                <a:solidFill>
                  <a:srgbClr val="8ADBC9"/>
                </a:solidFill>
              </a:defRPr>
            </a:lvl3pPr>
            <a:lvl4pPr>
              <a:defRPr sz="1350" b="1">
                <a:solidFill>
                  <a:srgbClr val="8ADBC9"/>
                </a:solidFill>
              </a:defRPr>
            </a:lvl4pPr>
            <a:lvl5pPr>
              <a:defRPr sz="1350" b="1">
                <a:solidFill>
                  <a:srgbClr val="8ADBC9"/>
                </a:solidFill>
              </a:defRPr>
            </a:lvl5pPr>
            <a:lvl6pPr>
              <a:defRPr sz="1350" b="1">
                <a:solidFill>
                  <a:srgbClr val="8ADBC9"/>
                </a:solidFill>
              </a:defRPr>
            </a:lvl6pPr>
            <a:lvl7pPr>
              <a:defRPr sz="1350" b="1">
                <a:solidFill>
                  <a:srgbClr val="8ADBC9"/>
                </a:solidFill>
              </a:defRPr>
            </a:lvl7pPr>
            <a:lvl8pPr>
              <a:defRPr sz="1350" b="1">
                <a:solidFill>
                  <a:srgbClr val="8ADBC9"/>
                </a:solidFill>
              </a:defRPr>
            </a:lvl8pPr>
            <a:lvl9pPr>
              <a:defRPr sz="1350" b="1">
                <a:solidFill>
                  <a:srgbClr val="8ADBC9"/>
                </a:solidFill>
              </a:defRPr>
            </a:lvl9pPr>
          </a:lstStyle>
          <a:p>
            <a:pPr>
              <a:defRPr sz="1350" b="1">
                <a:solidFill>
                  <a:srgbClr val="8ADBC9"/>
                </a:solidFill>
              </a:defRPr>
            </a:pPr>
            <a:r>
              <a:rPr sz="1350" b="1">
                <a:solidFill>
                  <a:srgbClr val="8ADBC9"/>
                </a:solidFill>
              </a:rPr>
              <a:t>THE OPPORTUNITY</a:t>
            </a:r>
          </a:p>
        </p:txBody>
      </p:sp>
      <p:sp>
        <p:nvSpPr>
          <p:cNvPr id="8" name="opportunity-title">
            <a:extLst>
              <a:ext uri="{FF2B5EF4-FFF2-40B4-BE49-F238E27FC236}">
                <a16:creationId xmlns:a16="http://schemas.microsoft.com/office/drawing/2014/main" id="{49121351-9932-4734-86C3-E3C4470A7CE8}"/>
              </a:ext>
            </a:extLst>
          </p:cNvPr>
          <p:cNvSpPr>
            <a:spLocks noGrp="1"/>
          </p:cNvSpPr>
          <p:nvPr/>
        </p:nvSpPr>
        <p:spPr>
          <a:xfrm>
            <a:off x="4733925" y="2428875"/>
            <a:ext cx="67627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FFFFFF"/>
                </a:solidFill>
              </a:defRPr>
            </a:defPPr>
            <a:lvl1pPr>
              <a:defRPr sz="2700" b="1">
                <a:solidFill>
                  <a:srgbClr val="FFFFFF"/>
                </a:solidFill>
              </a:defRPr>
            </a:lvl1pPr>
            <a:lvl2pPr>
              <a:defRPr sz="2700" b="1">
                <a:solidFill>
                  <a:srgbClr val="FFFFFF"/>
                </a:solidFill>
              </a:defRPr>
            </a:lvl2pPr>
            <a:lvl3pPr>
              <a:defRPr sz="2700" b="1">
                <a:solidFill>
                  <a:srgbClr val="FFFFFF"/>
                </a:solidFill>
              </a:defRPr>
            </a:lvl3pPr>
            <a:lvl4pPr>
              <a:defRPr sz="2700" b="1">
                <a:solidFill>
                  <a:srgbClr val="FFFFFF"/>
                </a:solidFill>
              </a:defRPr>
            </a:lvl4pPr>
            <a:lvl5pPr>
              <a:defRPr sz="2700" b="1">
                <a:solidFill>
                  <a:srgbClr val="FFFFFF"/>
                </a:solidFill>
              </a:defRPr>
            </a:lvl5pPr>
            <a:lvl6pPr>
              <a:defRPr sz="2700" b="1">
                <a:solidFill>
                  <a:srgbClr val="FFFFFF"/>
                </a:solidFill>
              </a:defRPr>
            </a:lvl6pPr>
            <a:lvl7pPr>
              <a:defRPr sz="2700" b="1">
                <a:solidFill>
                  <a:srgbClr val="FFFFFF"/>
                </a:solidFill>
              </a:defRPr>
            </a:lvl7pPr>
            <a:lvl8pPr>
              <a:defRPr sz="2700" b="1">
                <a:solidFill>
                  <a:srgbClr val="FFFFFF"/>
                </a:solidFill>
              </a:defRPr>
            </a:lvl8pPr>
            <a:lvl9pPr>
              <a:defRPr sz="2700" b="1">
                <a:solidFill>
                  <a:srgbClr val="FFFFFF"/>
                </a:solidFill>
              </a:defRPr>
            </a:lvl9pPr>
          </a:lstStyle>
          <a:p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 single patient record</a:t>
            </a:r>
          </a:p>
        </p:txBody>
      </p:sp>
      <p:sp>
        <p:nvSpPr>
          <p:cNvPr id="9" name="opportunity-body">
            <a:extLst>
              <a:ext uri="{FF2B5EF4-FFF2-40B4-BE49-F238E27FC236}">
                <a16:creationId xmlns:a16="http://schemas.microsoft.com/office/drawing/2014/main" id="{821A9702-37F5-4FEE-8352-A924A520C92F}"/>
              </a:ext>
            </a:extLst>
          </p:cNvPr>
          <p:cNvSpPr>
            <a:spLocks noGrp="1"/>
          </p:cNvSpPr>
          <p:nvPr/>
        </p:nvSpPr>
        <p:spPr>
          <a:xfrm>
            <a:off x="4733925" y="3171825"/>
            <a:ext cx="6762750" cy="1295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C6D6DC"/>
                </a:solidFill>
              </a:defRPr>
            </a:defPPr>
            <a:lvl1pPr>
              <a:defRPr sz="1875" b="0">
                <a:solidFill>
                  <a:srgbClr val="C6D6DC"/>
                </a:solidFill>
              </a:defRPr>
            </a:lvl1pPr>
            <a:lvl2pPr>
              <a:defRPr sz="1875" b="0">
                <a:solidFill>
                  <a:srgbClr val="C6D6DC"/>
                </a:solidFill>
              </a:defRPr>
            </a:lvl2pPr>
            <a:lvl3pPr>
              <a:defRPr sz="1875" b="0">
                <a:solidFill>
                  <a:srgbClr val="C6D6DC"/>
                </a:solidFill>
              </a:defRPr>
            </a:lvl3pPr>
            <a:lvl4pPr>
              <a:defRPr sz="1875" b="0">
                <a:solidFill>
                  <a:srgbClr val="C6D6DC"/>
                </a:solidFill>
              </a:defRPr>
            </a:lvl4pPr>
            <a:lvl5pPr>
              <a:defRPr sz="1875" b="0">
                <a:solidFill>
                  <a:srgbClr val="C6D6DC"/>
                </a:solidFill>
              </a:defRPr>
            </a:lvl5pPr>
            <a:lvl6pPr>
              <a:defRPr sz="1875" b="0">
                <a:solidFill>
                  <a:srgbClr val="C6D6DC"/>
                </a:solidFill>
              </a:defRPr>
            </a:lvl6pPr>
            <a:lvl7pPr>
              <a:defRPr sz="1875" b="0">
                <a:solidFill>
                  <a:srgbClr val="C6D6DC"/>
                </a:solidFill>
              </a:defRPr>
            </a:lvl7pPr>
            <a:lvl8pPr>
              <a:defRPr sz="1875" b="0">
                <a:solidFill>
                  <a:srgbClr val="C6D6DC"/>
                </a:solidFill>
              </a:defRPr>
            </a:lvl8pPr>
            <a:lvl9pPr>
              <a:defRPr sz="1875" b="0">
                <a:solidFill>
                  <a:srgbClr val="C6D6DC"/>
                </a:solidFill>
              </a:defRPr>
            </a:lvl9pPr>
          </a:lstStyle>
          <a:p>
            <a:pPr>
              <a:defRPr sz="1875" b="0">
                <a:solidFill>
                  <a:srgbClr val="C6D6DC"/>
                </a:solidFill>
              </a:defRPr>
            </a:pPr>
            <a:r>
              <a:rPr sz="1875" b="0">
                <a:solidFill>
                  <a:srgbClr val="C6D6DC"/>
                </a:solidFill>
              </a:rPr>
              <a:t>More connected data could improve models.</a:t>
            </a:r>
          </a:p>
          <a:p>
            <a:pPr>
              <a:defRPr sz="1875" b="0">
                <a:solidFill>
                  <a:srgbClr val="C6D6DC"/>
                </a:solidFill>
              </a:defRPr>
            </a:pPr>
            <a:r>
              <a:rPr sz="1875" b="0">
                <a:solidFill>
                  <a:srgbClr val="C6D6DC"/>
                </a:solidFill>
              </a:rPr>
              <a:t>Synthetic data could benefit the wider ecosystem</a:t>
            </a:r>
          </a:p>
          <a:p>
            <a:pPr>
              <a:defRPr sz="1875" b="0">
                <a:solidFill>
                  <a:srgbClr val="C6D6DC"/>
                </a:solidFill>
              </a:defRPr>
            </a:pPr>
            <a:r>
              <a:rPr sz="1875" b="0">
                <a:solidFill>
                  <a:srgbClr val="C6D6DC"/>
                </a:solidFill>
              </a:rPr>
              <a:t>and reduce regulatory friction.</a:t>
            </a:r>
          </a:p>
        </p:txBody>
      </p:sp>
      <p:sp>
        <p:nvSpPr>
          <p:cNvPr id="10" name="approach-label">
            <a:extLst>
              <a:ext uri="{FF2B5EF4-FFF2-40B4-BE49-F238E27FC236}">
                <a16:creationId xmlns:a16="http://schemas.microsoft.com/office/drawing/2014/main" id="{D27CE860-9880-401C-9FD6-09343A023831}"/>
              </a:ext>
            </a:extLst>
          </p:cNvPr>
          <p:cNvSpPr>
            <a:spLocks noGrp="1"/>
          </p:cNvSpPr>
          <p:nvPr/>
        </p:nvSpPr>
        <p:spPr>
          <a:xfrm>
            <a:off x="628650" y="50673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8ADBC9"/>
                </a:solidFill>
              </a:defRPr>
            </a:defPPr>
            <a:lvl1pPr>
              <a:defRPr sz="1350" b="1">
                <a:solidFill>
                  <a:srgbClr val="8ADBC9"/>
                </a:solidFill>
              </a:defRPr>
            </a:lvl1pPr>
            <a:lvl2pPr>
              <a:defRPr sz="1350" b="1">
                <a:solidFill>
                  <a:srgbClr val="8ADBC9"/>
                </a:solidFill>
              </a:defRPr>
            </a:lvl2pPr>
            <a:lvl3pPr>
              <a:defRPr sz="1350" b="1">
                <a:solidFill>
                  <a:srgbClr val="8ADBC9"/>
                </a:solidFill>
              </a:defRPr>
            </a:lvl3pPr>
            <a:lvl4pPr>
              <a:defRPr sz="1350" b="1">
                <a:solidFill>
                  <a:srgbClr val="8ADBC9"/>
                </a:solidFill>
              </a:defRPr>
            </a:lvl4pPr>
            <a:lvl5pPr>
              <a:defRPr sz="1350" b="1">
                <a:solidFill>
                  <a:srgbClr val="8ADBC9"/>
                </a:solidFill>
              </a:defRPr>
            </a:lvl5pPr>
            <a:lvl6pPr>
              <a:defRPr sz="1350" b="1">
                <a:solidFill>
                  <a:srgbClr val="8ADBC9"/>
                </a:solidFill>
              </a:defRPr>
            </a:lvl6pPr>
            <a:lvl7pPr>
              <a:defRPr sz="1350" b="1">
                <a:solidFill>
                  <a:srgbClr val="8ADBC9"/>
                </a:solidFill>
              </a:defRPr>
            </a:lvl7pPr>
            <a:lvl8pPr>
              <a:defRPr sz="1350" b="1">
                <a:solidFill>
                  <a:srgbClr val="8ADBC9"/>
                </a:solidFill>
              </a:defRPr>
            </a:lvl8pPr>
            <a:lvl9pPr>
              <a:defRPr sz="1350" b="1">
                <a:solidFill>
                  <a:srgbClr val="8ADBC9"/>
                </a:solidFill>
              </a:defRPr>
            </a:lvl9pPr>
          </a:lstStyle>
          <a:p>
            <a:pPr>
              <a:defRPr sz="1350" b="1">
                <a:solidFill>
                  <a:srgbClr val="8ADBC9"/>
                </a:solidFill>
              </a:defRPr>
            </a:pPr>
            <a:r>
              <a:rPr sz="1350" b="1">
                <a:solidFill>
                  <a:srgbClr val="8ADBC9"/>
                </a:solidFill>
              </a:rPr>
              <a:t>CELL BENCH IN PRACTICE</a:t>
            </a:r>
          </a:p>
        </p:txBody>
      </p:sp>
      <p:sp>
        <p:nvSpPr>
          <p:cNvPr id="11" name="approach-title">
            <a:extLst>
              <a:ext uri="{FF2B5EF4-FFF2-40B4-BE49-F238E27FC236}">
                <a16:creationId xmlns:a16="http://schemas.microsoft.com/office/drawing/2014/main" id="{F4A7D6CF-D9EB-49E7-81F9-02D950D09970}"/>
              </a:ext>
            </a:extLst>
          </p:cNvPr>
          <p:cNvSpPr>
            <a:spLocks noGrp="1"/>
          </p:cNvSpPr>
          <p:nvPr/>
        </p:nvSpPr>
        <p:spPr>
          <a:xfrm>
            <a:off x="628650" y="5429250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AI hosted locally within each trust</a:t>
            </a:r>
          </a:p>
        </p:txBody>
      </p:sp>
      <p:sp>
        <p:nvSpPr>
          <p:cNvPr id="12" name="approach-body">
            <a:extLst>
              <a:ext uri="{FF2B5EF4-FFF2-40B4-BE49-F238E27FC236}">
                <a16:creationId xmlns:a16="http://schemas.microsoft.com/office/drawing/2014/main" id="{1AED22C9-4894-4A41-9ED4-A5E0083172A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C6D6DC"/>
                </a:solidFill>
              </a:defRPr>
            </a:defPPr>
            <a:lvl1pPr>
              <a:defRPr sz="1875" b="0">
                <a:solidFill>
                  <a:srgbClr val="C6D6DC"/>
                </a:solidFill>
              </a:defRPr>
            </a:lvl1pPr>
            <a:lvl2pPr>
              <a:defRPr sz="1875" b="0">
                <a:solidFill>
                  <a:srgbClr val="C6D6DC"/>
                </a:solidFill>
              </a:defRPr>
            </a:lvl2pPr>
            <a:lvl3pPr>
              <a:defRPr sz="1875" b="0">
                <a:solidFill>
                  <a:srgbClr val="C6D6DC"/>
                </a:solidFill>
              </a:defRPr>
            </a:lvl3pPr>
            <a:lvl4pPr>
              <a:defRPr sz="1875" b="0">
                <a:solidFill>
                  <a:srgbClr val="C6D6DC"/>
                </a:solidFill>
              </a:defRPr>
            </a:lvl4pPr>
            <a:lvl5pPr>
              <a:defRPr sz="1875" b="0">
                <a:solidFill>
                  <a:srgbClr val="C6D6DC"/>
                </a:solidFill>
              </a:defRPr>
            </a:lvl5pPr>
            <a:lvl6pPr>
              <a:defRPr sz="1875" b="0">
                <a:solidFill>
                  <a:srgbClr val="C6D6DC"/>
                </a:solidFill>
              </a:defRPr>
            </a:lvl6pPr>
            <a:lvl7pPr>
              <a:defRPr sz="1875" b="0">
                <a:solidFill>
                  <a:srgbClr val="C6D6DC"/>
                </a:solidFill>
              </a:defRPr>
            </a:lvl7pPr>
            <a:lvl8pPr>
              <a:defRPr sz="1875" b="0">
                <a:solidFill>
                  <a:srgbClr val="C6D6DC"/>
                </a:solidFill>
              </a:defRPr>
            </a:lvl8pPr>
            <a:lvl9pPr>
              <a:defRPr sz="1875" b="0">
                <a:solidFill>
                  <a:srgbClr val="C6D6DC"/>
                </a:solidFill>
              </a:defRPr>
            </a:lvl9pPr>
          </a:lstStyle>
          <a:p>
            <a:pPr>
              <a:defRPr sz="1875" b="0">
                <a:solidFill>
                  <a:srgbClr val="C6D6DC"/>
                </a:solidFill>
              </a:defRPr>
            </a:pPr>
            <a:r>
              <a:rPr sz="1875" b="0">
                <a:solidFill>
                  <a:srgbClr val="C6D6DC"/>
                </a:solidFill>
              </a:rPr>
              <a:t>Tailored experiences for clinicians and researchers</a:t>
            </a:r>
          </a:p>
        </p:txBody>
      </p:sp>
    </p:spTree>
    <p:extLst>
      <p:ext uri="{BB962C8B-B14F-4D97-AF65-F5344CB8AC3E}">
        <p14:creationId xmlns:p14="http://schemas.microsoft.com/office/powerpoint/2010/main" val="1251048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100</TotalTime>
  <Words>319</Words>
  <Application>Microsoft Office PowerPoint</Application>
  <PresentationFormat>Widescreen</PresentationFormat>
  <Paragraphs>73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What we did</vt:lpstr>
      <vt:lpstr>PowerPoint Presentation</vt:lpstr>
    </vt:vector>
  </TitlesOfParts>
  <Company>University of Leeds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Owen</dc:creator>
  <cp:lastModifiedBy>Samuel Owen</cp:lastModifiedBy>
  <cp:revision>5</cp:revision>
  <dcterms:created xsi:type="dcterms:W3CDTF">2026-10-24T17:13:27Z</dcterms:created>
  <dcterms:modified xsi:type="dcterms:W3CDTF">2026-10-25T11:30:01Z</dcterms:modified>
</cp:coreProperties>
</file>